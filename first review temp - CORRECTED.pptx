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63" r:id="rId4"/>
    <p:sldId id="279" r:id="rId5"/>
    <p:sldId id="264" r:id="rId6"/>
    <p:sldId id="265" r:id="rId7"/>
    <p:sldId id="262" r:id="rId8"/>
    <p:sldId id="271" r:id="rId9"/>
    <p:sldId id="267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26" autoAdjust="0"/>
  </p:normalViewPr>
  <p:slideViewPr>
    <p:cSldViewPr snapToGrid="0">
      <p:cViewPr>
        <p:scale>
          <a:sx n="75" d="100"/>
          <a:sy n="75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DE0B9A-29DF-5474-9759-CCC0ECBEF1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19E712-C895-B2AA-BE43-1CFBB0FC46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2FD969-9832-4933-832E-3A58509884D6}" type="datetime1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F009B8-8721-1105-DF19-78C2048128B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46436-437D-C03A-9B46-713E3024138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8A4EF3-5BAA-4FEF-B1AB-E5C02F12A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38583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C05AE-93A3-4AFD-A9F8-FA9153E4848A}" type="datetime1">
              <a:rPr lang="en-IN" smtClean="0"/>
              <a:t>16-07-2026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4E3D55-DAFB-449A-B496-DACDA44C8B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84176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48D5A-EF41-2440-200E-5D8AFB1A85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91AD5F-5596-1DAB-0583-63853D73DE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EBF26-3DC5-69E8-533B-3C04AD9DA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F042A-7DEE-4BC2-A0FF-ADE6B0D70D7C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5512E-C1CF-3AD3-5896-82DDBE2CA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A728F-5FF5-C4FE-E3D9-90FB614E7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657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989B9-B7AF-92A7-B743-D633D07AA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B2F30-F660-64D6-03D5-FFC55F335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ED799-BABA-A2A3-34BB-6BEE63A39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0B1DD-FB43-4875-9A9A-F692B563926A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B5642-54F6-E227-18DD-4104972EB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C113D-3778-B8A8-4601-D23FCF060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495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1FD9A-FBA4-5716-638B-56B9BC497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1DFED-0D60-CDB6-4AF7-C7B1AB052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53B2B-71EF-9B9B-9F98-C47A0536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D2B51-34E4-466A-9DC4-485DA9428E6B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5F55E-A5F1-E47D-60CF-AC7F6DFAF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A244C-6D17-6439-29F0-8B5C2BD41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810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9FD90-6877-2212-F31C-013A2461E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8AE32-5711-DDB0-5B68-539843B2B1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03EA3B-CAA9-E4E0-B67C-471E3FFB27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859DE-A865-AD48-850F-BD370FED4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8D1EC-5184-4A40-AF1D-4976D5879B51}" type="datetime1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C7C512-D05F-A322-2539-07B1244E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09C3A-3399-BC52-B5C4-12BF6F17F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9490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13822-4EBE-99A7-C80A-3D0F15D76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756E3-15F1-DB94-A362-06884DA2F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C783B3-539B-9985-1E43-960BDC1B89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E5FEF8-0E3F-30AC-2897-67060B55E7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6E7D6B-B406-B3BA-18FA-F91CFBC888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18AB67-92AC-3497-B3F3-478F5FD8D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11402-3461-4CA5-9E98-2ADBFAE2CC56}" type="datetime1">
              <a:rPr lang="en-IN" smtClean="0"/>
              <a:t>16-07-2026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5707C4-3FC8-4365-A067-B04C2609D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91F443-C192-EB9A-37AF-A9F8086E9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266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21B88-80ED-DDB4-B650-8563048CD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0706BD-C9B9-D9A3-781D-DA3AC0970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8D6FB-CA85-45CB-8AF7-3E32B0A418BA}" type="datetime1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C2803F-4157-5813-3FB2-CD36C73AC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6DC2C4-51FE-ABF8-2713-BB7285DAB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921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19DE6B-55E9-8D83-130C-CAE2E7B06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34929-D10C-4FF7-B22E-94453B270E5A}" type="datetime1">
              <a:rPr lang="en-IN" smtClean="0"/>
              <a:t>16-07-2026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B6D689-0261-D8C7-9F21-79F70CAC2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BBA6A-8845-4E62-5E4C-862C037A3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601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0FC51-02D0-9BAB-E1EE-66E378870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67282-ACEB-A6B5-C217-89C14A574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89EC9E-3E97-502F-614E-ADCD03FC0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9DF6F2-0D48-6AF0-B2BE-6200B313D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89B4-6292-4A47-9E12-57CB7D90954C}" type="datetime1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6C2BC0-928F-17C1-152E-DFC22CC7A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956FB0-531E-1136-AD08-34D09CFF1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194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D5112-E124-1DA4-E386-C5068DDD7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9154C2-FC73-5F9C-12BB-49D132A7E1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F66659-9F4A-3463-7687-33BEB5A09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A2B7C7-ACBB-774A-527D-CCE652D34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7CCCB-1E5B-49F3-8B55-39F4DD25BDD4}" type="datetime1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BC2201-11C9-4C2B-AC9E-57B67854F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AAB9B4-8211-18A1-E31D-4CC2B5461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49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63A82-12B4-856B-8842-EF9B32BB4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B18E96-CC4B-CF65-DC2E-20BFD51130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48AD0C-D2C1-5969-12AB-227FF9925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E7533-3E13-4484-8FD7-475474B2A9F3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DE672-B222-12DB-9A37-13779C48A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8D944-5628-CDB6-34F7-33B88AFB8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405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2EB9D8-4913-B281-1A52-DBC41CFCAF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ECE2B8-F1F4-D010-7BED-652AA3D8A6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AA608-E9D1-4511-F73E-1BBF3AB46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E0536-59C3-4BC6-A11E-C16A5AC7DACE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7D57E-8FDB-26BB-6D10-D5A8FAAA5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58542-6CAE-1B3A-E872-3313F6A42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038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DEB455-A657-084F-7C4C-EF54E33DA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4ED0D-B75F-74C6-22C2-C92940808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89F25-08BC-D8BF-DB54-428F6C85DE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D83A66-37C8-449D-B309-E74901CC910B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154B7-9A3B-CE82-F104-6B04C1FDAB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A0267-B6E8-20FF-565E-4735EEFCB0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542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B1EDD72F-D569-E495-A380-4FB9B27ACE3A}"/>
              </a:ext>
            </a:extLst>
          </p:cNvPr>
          <p:cNvSpPr txBox="1">
            <a:spLocks/>
          </p:cNvSpPr>
          <p:nvPr/>
        </p:nvSpPr>
        <p:spPr>
          <a:xfrm>
            <a:off x="2858729" y="1137293"/>
            <a:ext cx="6474542" cy="4274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002060"/>
                </a:solidFill>
                <a:cs typeface="Times New Roman" panose="02020603050405020304" pitchFamily="18" charset="0"/>
              </a:rPr>
              <a:t>Department of Computer Science And Engineering 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795E489-E007-3F18-5B7E-A305954A6C3B}"/>
              </a:ext>
            </a:extLst>
          </p:cNvPr>
          <p:cNvSpPr txBox="1">
            <a:spLocks/>
          </p:cNvSpPr>
          <p:nvPr/>
        </p:nvSpPr>
        <p:spPr>
          <a:xfrm>
            <a:off x="-3" y="6046840"/>
            <a:ext cx="5309758" cy="776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Supervisor: </a:t>
            </a:r>
            <a: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Ms. Nandhini N 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D689A1E-8EF2-E118-6824-CDBB3629F217}"/>
              </a:ext>
            </a:extLst>
          </p:cNvPr>
          <p:cNvSpPr txBox="1">
            <a:spLocks/>
          </p:cNvSpPr>
          <p:nvPr/>
        </p:nvSpPr>
        <p:spPr>
          <a:xfrm>
            <a:off x="7091516" y="5108816"/>
            <a:ext cx="5031658" cy="13260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Members:</a:t>
            </a:r>
          </a:p>
          <a:p>
            <a:pPr marL="457200" indent="-457200" algn="l">
              <a:lnSpc>
                <a:spcPct val="100000"/>
              </a:lnSpc>
              <a:spcBef>
                <a:spcPts val="200"/>
              </a:spcBef>
              <a:buAutoNum type="arabicPeriod"/>
            </a:pPr>
            <a: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Atharsh bharathkumar – 727723EUCS027</a:t>
            </a:r>
          </a:p>
          <a:p>
            <a:pPr marL="457200" indent="-457200" algn="l">
              <a:lnSpc>
                <a:spcPct val="100000"/>
              </a:lnSpc>
              <a:spcBef>
                <a:spcPts val="200"/>
              </a:spcBef>
              <a:buAutoNum type="arabicPeriod"/>
            </a:pPr>
            <a:r>
              <a:rPr lang="en-IN" sz="1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Bavanikaa</a:t>
            </a:r>
            <a: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S – 727723EUCS032</a:t>
            </a:r>
          </a:p>
          <a:p>
            <a:pPr marL="457200" indent="-457200" algn="l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AutoNum type="arabicPeriod"/>
            </a:pPr>
            <a: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Abishek K S – 727723EUCS003</a:t>
            </a:r>
          </a:p>
          <a:p>
            <a:pPr marL="457200" indent="-457200" algn="l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AutoNum type="arabicPeriod"/>
            </a:pPr>
            <a:r>
              <a:rPr lang="en-IN" sz="1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Harene</a:t>
            </a:r>
            <a: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 – 727723EUCS069</a:t>
            </a:r>
          </a:p>
          <a:p>
            <a:pPr marL="457200" indent="-457200" algn="l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AutoNum type="arabicPeriod"/>
            </a:pPr>
            <a:endParaRPr lang="en-IN" sz="1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1C75339-A05A-F46A-823C-5125842221D1}"/>
              </a:ext>
            </a:extLst>
          </p:cNvPr>
          <p:cNvSpPr txBox="1">
            <a:spLocks/>
          </p:cNvSpPr>
          <p:nvPr/>
        </p:nvSpPr>
        <p:spPr>
          <a:xfrm>
            <a:off x="0" y="5749630"/>
            <a:ext cx="3962399" cy="4453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No.: 7 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6020D8A-6348-E3D3-4C53-90021725007B}"/>
              </a:ext>
            </a:extLst>
          </p:cNvPr>
          <p:cNvSpPr txBox="1">
            <a:spLocks/>
          </p:cNvSpPr>
          <p:nvPr/>
        </p:nvSpPr>
        <p:spPr>
          <a:xfrm>
            <a:off x="-3" y="6453960"/>
            <a:ext cx="3962399" cy="4453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600"/>
              </a:spcBef>
            </a:pPr>
            <a:endParaRPr lang="en-IN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03EAFE8D-8B07-8A9D-E7AE-F148322DF277}"/>
              </a:ext>
            </a:extLst>
          </p:cNvPr>
          <p:cNvSpPr txBox="1">
            <a:spLocks/>
          </p:cNvSpPr>
          <p:nvPr/>
        </p:nvSpPr>
        <p:spPr>
          <a:xfrm>
            <a:off x="1430592" y="2968927"/>
            <a:ext cx="9684448" cy="6882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sz="3600" dirty="0">
                <a:solidFill>
                  <a:schemeClr val="accent1">
                    <a:lumMod val="50000"/>
                  </a:schemeClr>
                </a:solidFill>
              </a:rPr>
              <a:t>Smart LMS with AI-Powered Student Engagement</a:t>
            </a:r>
            <a:endParaRPr lang="en-IN" sz="36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39192B06-CFF5-62BE-C517-094700027BEF}"/>
              </a:ext>
            </a:extLst>
          </p:cNvPr>
          <p:cNvSpPr txBox="1">
            <a:spLocks/>
          </p:cNvSpPr>
          <p:nvPr/>
        </p:nvSpPr>
        <p:spPr>
          <a:xfrm>
            <a:off x="2895600" y="1902524"/>
            <a:ext cx="6400800" cy="5584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Work Phase – I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89A0199-C93B-2680-7A40-9180F6B7764D}"/>
              </a:ext>
            </a:extLst>
          </p:cNvPr>
          <p:cNvGrpSpPr/>
          <p:nvPr/>
        </p:nvGrpSpPr>
        <p:grpSpPr>
          <a:xfrm>
            <a:off x="1430592" y="254935"/>
            <a:ext cx="9330816" cy="934675"/>
            <a:chOff x="1071716" y="272962"/>
            <a:chExt cx="9330816" cy="93467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CE8982E7-4D99-63B5-35C1-DB0A625D27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1716" y="272962"/>
              <a:ext cx="8377084" cy="934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0" name="Picture 2" descr="Anna University Logo">
              <a:extLst>
                <a:ext uri="{FF2B5EF4-FFF2-40B4-BE49-F238E27FC236}">
                  <a16:creationId xmlns:a16="http://schemas.microsoft.com/office/drawing/2014/main" id="{1C4E39E8-316C-B1BE-76CC-CC73C811664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39" t="10338" r="20319" b="10894"/>
            <a:stretch>
              <a:fillRect/>
            </a:stretch>
          </p:blipFill>
          <p:spPr bwMode="auto">
            <a:xfrm>
              <a:off x="9571702" y="272962"/>
              <a:ext cx="830830" cy="8291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Subtitle 2">
            <a:extLst>
              <a:ext uri="{FF2B5EF4-FFF2-40B4-BE49-F238E27FC236}">
                <a16:creationId xmlns:a16="http://schemas.microsoft.com/office/drawing/2014/main" id="{8CA53F4B-A92B-D6BE-58B5-9CD3DA1F4067}"/>
              </a:ext>
            </a:extLst>
          </p:cNvPr>
          <p:cNvSpPr txBox="1">
            <a:spLocks/>
          </p:cNvSpPr>
          <p:nvPr/>
        </p:nvSpPr>
        <p:spPr>
          <a:xfrm>
            <a:off x="5031658" y="2373462"/>
            <a:ext cx="2128684" cy="5584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Zeroth Review</a:t>
            </a:r>
          </a:p>
        </p:txBody>
      </p:sp>
    </p:spTree>
    <p:extLst>
      <p:ext uri="{BB962C8B-B14F-4D97-AF65-F5344CB8AC3E}">
        <p14:creationId xmlns:p14="http://schemas.microsoft.com/office/powerpoint/2010/main" val="20070575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3645-45FC-B8C0-737E-58E748AA9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365125"/>
            <a:ext cx="1107948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678EB1-640D-8485-1BEF-09B6D6654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| Dept. of CSE | PWP-I | Batch - 7 | Zeroth review |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C37E25-FFC7-E0B0-0E67-3E8FC84A9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19813-2FF0-4B7E-8ABC-F71D45EBE63E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16-07-2026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8E826-A5CF-DE05-B518-F198F64B2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14E822A-E33B-44F5-FB18-5DE11F52A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0F9B08-7202-220B-C789-FCEA7E17E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493520"/>
            <a:ext cx="11079480" cy="46834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Current Challenges</a:t>
            </a:r>
          </a:p>
          <a:p>
            <a:r>
              <a:rPr lang="en-US" sz="2000" dirty="0"/>
              <a:t>Educational activities are distributed across multiple platforms. </a:t>
            </a:r>
          </a:p>
          <a:p>
            <a:r>
              <a:rPr lang="en-IN" sz="2000" dirty="0"/>
              <a:t>Teachers find it difficult to monitor students during online classes and ensure active participation.</a:t>
            </a:r>
            <a:br>
              <a:rPr lang="en-IN" sz="2000" dirty="0"/>
            </a:br>
            <a:r>
              <a:rPr lang="en-IN" sz="2000" dirty="0"/>
              <a:t>There is no effective way to identify students who are absent or engaged in unrelated activities.</a:t>
            </a:r>
          </a:p>
          <a:p>
            <a:r>
              <a:rPr lang="en-IN" sz="2000" dirty="0"/>
              <a:t>Student achievements in assignments, projects, sports, and extracurricular activities are not centrally tracked. This reduces motivation and makes it difficult for teachers to recognize deserving students.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Need</a:t>
            </a:r>
          </a:p>
          <a:p>
            <a:r>
              <a:rPr lang="en-IN" sz="2000" dirty="0"/>
              <a:t>Develop a single AI-powered educational ecosystem that integrates learning management, online classrooms, academic tracking, and intelligent engagement analytics.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297053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3645-45FC-B8C0-737E-58E748AA9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365125"/>
            <a:ext cx="1107948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C6317-0F5D-0C88-5539-7A37BD48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080" y="1584960"/>
            <a:ext cx="10967720" cy="459200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3800" b="1" dirty="0"/>
              <a:t>Primary Objective</a:t>
            </a:r>
          </a:p>
          <a:p>
            <a:r>
              <a:rPr lang="en-IN" sz="3200" dirty="0"/>
              <a:t>Develop an AI-powered Learning Management System that unifies academic management and online learning.</a:t>
            </a:r>
          </a:p>
          <a:p>
            <a:r>
              <a:rPr lang="en-IN" sz="3200" dirty="0"/>
              <a:t>Enhance student engagement through AI-assisted classroom monitoring and intelligent learning analytics.</a:t>
            </a:r>
          </a:p>
          <a:p>
            <a:pPr marL="0" indent="0">
              <a:buNone/>
            </a:pPr>
            <a:r>
              <a:rPr lang="en-IN" sz="3800" b="1" dirty="0"/>
              <a:t>Secondary Objectives</a:t>
            </a:r>
          </a:p>
          <a:p>
            <a:r>
              <a:rPr lang="en-IN" sz="3200" dirty="0"/>
              <a:t>Provide a centralized platform for students, teachers, parents, and administrators. </a:t>
            </a:r>
          </a:p>
          <a:p>
            <a:r>
              <a:rPr lang="en-IN" sz="3200" dirty="0"/>
              <a:t>Improve classroom management through AI-based engagement analytics. </a:t>
            </a:r>
          </a:p>
          <a:p>
            <a:r>
              <a:rPr lang="en-IN" sz="3200" dirty="0"/>
              <a:t>Simplify assignment, attendance, and examination management. </a:t>
            </a:r>
          </a:p>
          <a:p>
            <a:r>
              <a:rPr lang="en-IN" sz="3200" dirty="0"/>
              <a:t>Support future AI-assisted learning features. </a:t>
            </a:r>
          </a:p>
          <a:p>
            <a:pPr marL="0" indent="0">
              <a:buNone/>
            </a:pPr>
            <a:r>
              <a:rPr lang="en-IN" sz="3800" b="1" dirty="0"/>
              <a:t>Expected Outcome</a:t>
            </a:r>
          </a:p>
          <a:p>
            <a:r>
              <a:rPr lang="en-IN" sz="3200" dirty="0"/>
              <a:t>An intelligent educational platform that improves learning efficiency, engagement, and academic monitoring.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678EB1-640D-8485-1BEF-09B6D6654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| Dept. of CSE | PWP-I | Batch - 7 | Zeroth review |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2E93A6-D9A5-09C9-BB29-78DA0F859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71B3C-4187-4AF5-82A3-4053E57F0D06}" type="datetime1">
              <a:rPr lang="en-IN" smtClean="0"/>
              <a:t>16-07-2026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7999D2-F112-4731-4CC6-800982112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3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A2F02A-180C-BC7B-12C7-5CC24FC06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65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75765-036D-F116-8DBF-D93544FDB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Development Goals - Mapping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B965A-4C1C-0AD6-C286-9BC821D00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AEE49-49E5-4D0F-9950-7B0F2EF6B029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B2CDE-7D89-ED3A-DD5F-A6AC56932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| Dept. of CSE | PWP-I | Batch - 7 | Zeroth review | </a:t>
            </a:r>
            <a:endParaRPr lang="en-I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37E28-F2AB-0F34-9638-E34F782B0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4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4770C9-DC78-C6F7-1B4A-673CAE608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DFA171-3CDE-64B6-8649-A33D9D19F4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611" y="1463040"/>
            <a:ext cx="11370777" cy="461264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7D1F145-CE79-08DD-5145-300DB8447694}"/>
              </a:ext>
            </a:extLst>
          </p:cNvPr>
          <p:cNvSpPr/>
          <p:nvPr/>
        </p:nvSpPr>
        <p:spPr>
          <a:xfrm>
            <a:off x="10271760" y="5750560"/>
            <a:ext cx="1310640" cy="213360"/>
          </a:xfrm>
          <a:prstGeom prst="rect">
            <a:avLst/>
          </a:prstGeom>
          <a:solidFill>
            <a:srgbClr val="F8F8F8"/>
          </a:solidFill>
          <a:ln>
            <a:solidFill>
              <a:srgbClr val="F8F8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463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3645-45FC-B8C0-737E-58E748AA9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354" y="410368"/>
            <a:ext cx="11213123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C6317-0F5D-0C88-5539-7A37BD48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354" y="1735931"/>
            <a:ext cx="11072446" cy="444103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Previous Work</a:t>
            </a:r>
          </a:p>
          <a:p>
            <a:r>
              <a:rPr lang="en-IN" sz="2400" dirty="0"/>
              <a:t>Existing LMS platforms such as Moodle, Google Classroom, and Canvas provide course management but lack intelligent engagement monitoring.</a:t>
            </a:r>
          </a:p>
          <a:p>
            <a:pPr marL="0" indent="0">
              <a:buNone/>
            </a:pPr>
            <a:r>
              <a:rPr lang="en-IN" b="1" dirty="0"/>
              <a:t>Research Gap</a:t>
            </a:r>
          </a:p>
          <a:p>
            <a:r>
              <a:rPr lang="en-IN" sz="2400" dirty="0"/>
              <a:t>Current solutions do not integrate Learning Management, Online Classrooms, Computer Vision, Learning Analytics, and AI assistance into a single platform.</a:t>
            </a:r>
          </a:p>
          <a:p>
            <a:pPr marL="0" indent="0">
              <a:buNone/>
            </a:pPr>
            <a:r>
              <a:rPr lang="en-IN" b="1" dirty="0"/>
              <a:t>Key References</a:t>
            </a:r>
          </a:p>
          <a:p>
            <a:r>
              <a:rPr lang="en-IN" sz="2400" dirty="0"/>
              <a:t>MDPI Electronics (2024) </a:t>
            </a:r>
          </a:p>
          <a:p>
            <a:r>
              <a:rPr lang="en-IN" sz="2400" dirty="0"/>
              <a:t>Springer Learning Analytics (2024) </a:t>
            </a:r>
          </a:p>
          <a:p>
            <a:r>
              <a:rPr lang="en-IN" sz="2400" dirty="0"/>
              <a:t>IEEE Access (2024) </a:t>
            </a:r>
          </a:p>
          <a:p>
            <a:r>
              <a:rPr lang="en-IN" sz="2400" dirty="0" err="1"/>
              <a:t>face-api.js</a:t>
            </a:r>
            <a:r>
              <a:rPr lang="en-IN" sz="2400" dirty="0"/>
              <a:t> (TinyFaceDetector CNN) </a:t>
            </a:r>
          </a:p>
          <a:p>
            <a:r>
              <a:rPr lang="en-IN" sz="2400" dirty="0"/>
              <a:t>WebRTC peer-to-peer video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678EB1-640D-8485-1BEF-09B6D6654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| Dept. of CSE | PWP-I | Batch - 7 | Zeroth review |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3E4C75-0D29-E4B0-2478-A0D76B641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DEC3E-AFF3-43F5-B41F-E721100205F4}" type="datetime1">
              <a:rPr lang="en-IN" smtClean="0"/>
              <a:t>16-07-2026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DFDC12-C309-1953-7E8D-BC72E45CF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5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5098D9-347E-FDD7-7C65-86F7D8304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658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3645-45FC-B8C0-737E-58E748AA9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" y="365125"/>
            <a:ext cx="1114044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Technology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C6317-0F5D-0C88-5539-7A37BD48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480" y="1352939"/>
            <a:ext cx="11069320" cy="482402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IN" sz="3800" b="1" dirty="0"/>
          </a:p>
          <a:p>
            <a:pPr marL="0" indent="0">
              <a:buNone/>
            </a:pPr>
            <a:r>
              <a:rPr lang="en-IN" sz="3800" b="1" dirty="0"/>
              <a:t>Current Technologies</a:t>
            </a:r>
          </a:p>
          <a:p>
            <a:r>
              <a:rPr lang="en-IN" sz="3200" dirty="0"/>
              <a:t>Moodle </a:t>
            </a:r>
          </a:p>
          <a:p>
            <a:r>
              <a:rPr lang="en-IN" sz="3200" dirty="0"/>
              <a:t>Google Classroom </a:t>
            </a:r>
          </a:p>
          <a:p>
            <a:r>
              <a:rPr lang="en-IN" sz="3200" dirty="0"/>
              <a:t>Microsoft Teams </a:t>
            </a:r>
          </a:p>
          <a:p>
            <a:r>
              <a:rPr lang="en-IN" sz="3200" dirty="0"/>
              <a:t>Canvas LMS </a:t>
            </a:r>
          </a:p>
          <a:p>
            <a:r>
              <a:rPr lang="en-IN" sz="3200" dirty="0"/>
              <a:t>Zoom </a:t>
            </a:r>
          </a:p>
          <a:p>
            <a:pPr marL="0" indent="0">
              <a:buNone/>
            </a:pPr>
            <a:r>
              <a:rPr lang="en-IN" sz="3800" b="1" dirty="0"/>
              <a:t>Limitations</a:t>
            </a:r>
          </a:p>
          <a:p>
            <a:r>
              <a:rPr lang="en-IN" sz="3200" dirty="0"/>
              <a:t>Separate platforms for different academic activities. </a:t>
            </a:r>
          </a:p>
          <a:p>
            <a:r>
              <a:rPr lang="en-IN" sz="3200" dirty="0"/>
              <a:t>Limited AI-based engagement analysis. </a:t>
            </a:r>
          </a:p>
          <a:p>
            <a:r>
              <a:rPr lang="en-IN" sz="3200" dirty="0"/>
              <a:t>Lack of integrated learning analytics. </a:t>
            </a:r>
          </a:p>
          <a:p>
            <a:r>
              <a:rPr lang="en-IN" sz="3200" dirty="0"/>
              <a:t>Minimal support for intelligent classroom monitoring. </a:t>
            </a:r>
          </a:p>
          <a:p>
            <a:pPr marL="0" indent="0">
              <a:buNone/>
            </a:pPr>
            <a:r>
              <a:rPr lang="en-IN" sz="3800" b="1" dirty="0"/>
              <a:t>Technology Trend</a:t>
            </a:r>
          </a:p>
          <a:p>
            <a:r>
              <a:rPr lang="en-IN" sz="3200" dirty="0"/>
              <a:t>Artificial Intelligence, Computer Vision, Learning Analytics, and Multimodal Student Engagement Systems.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678EB1-640D-8485-1BEF-09B6D6654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| Dept. of CSE | PWP-I | Batch - 7 | Zeroth review |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C0526E-A174-3050-2B0E-84D731FD9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3461A-921A-4188-B414-611F73B1DD07}" type="datetime1">
              <a:rPr lang="en-IN" smtClean="0"/>
              <a:t>16-07-2026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B261D5-90C8-4F82-22EC-6F0E78A76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6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1F05D7-F78C-479E-62F4-1D80531EA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124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3645-45FC-B8C0-737E-58E748AA9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365126"/>
            <a:ext cx="11186160" cy="1109111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Work/ Methodology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C6317-0F5D-0C88-5539-7A37BD48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" y="1474237"/>
            <a:ext cx="10515600" cy="50186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9600" b="1" dirty="0"/>
              <a:t>Concept</a:t>
            </a:r>
          </a:p>
          <a:p>
            <a:r>
              <a:rPr lang="en-IN" sz="6400" dirty="0"/>
              <a:t>Develop an AI-powered educational ecosystem combining LMS, Online Classroom, and Learning Analytics.</a:t>
            </a:r>
          </a:p>
          <a:p>
            <a:pPr marL="0" indent="0">
              <a:buNone/>
            </a:pPr>
            <a:r>
              <a:rPr lang="en-IN" sz="9600" b="1" dirty="0"/>
              <a:t>Innovation</a:t>
            </a:r>
          </a:p>
          <a:p>
            <a:r>
              <a:rPr lang="en-IN" sz="6400" dirty="0"/>
              <a:t>Integrated academic platform </a:t>
            </a:r>
          </a:p>
          <a:p>
            <a:r>
              <a:rPr lang="en-IN" sz="6400" dirty="0"/>
              <a:t>Browser-based CNN face detection </a:t>
            </a:r>
          </a:p>
          <a:p>
            <a:r>
              <a:rPr lang="en-IN" sz="6400" dirty="0"/>
              <a:t>Computer Vision-based engagement analytics </a:t>
            </a:r>
          </a:p>
          <a:p>
            <a:r>
              <a:rPr lang="en-IN" sz="6400" dirty="0"/>
              <a:t>Attendance derived from class attention </a:t>
            </a:r>
          </a:p>
          <a:p>
            <a:r>
              <a:rPr lang="en-IN" sz="6400" dirty="0"/>
              <a:t>Unified dashboards for Students, Teachers, Parents, and Admins .</a:t>
            </a:r>
          </a:p>
          <a:p>
            <a:pPr marL="0" indent="0">
              <a:buNone/>
            </a:pPr>
            <a:r>
              <a:rPr lang="en-IN" sz="9600" b="1" dirty="0"/>
              <a:t>Technology Stack</a:t>
            </a:r>
          </a:p>
          <a:p>
            <a:r>
              <a:rPr lang="en-IN" sz="6400" dirty="0"/>
              <a:t>React.js </a:t>
            </a:r>
          </a:p>
          <a:p>
            <a:r>
              <a:rPr lang="en-IN" sz="6400" dirty="0" err="1"/>
              <a:t>Spring Boot</a:t>
            </a:r>
            <a:r>
              <a:rPr lang="en-IN" sz="6400" dirty="0"/>
              <a:t> (Java 17) </a:t>
            </a:r>
          </a:p>
          <a:p>
            <a:r>
              <a:rPr lang="en-IN" sz="6400" dirty="0"/>
              <a:t>H2 / MySQL </a:t>
            </a:r>
          </a:p>
          <a:p>
            <a:r>
              <a:rPr lang="en-IN" sz="6400" dirty="0"/>
              <a:t>JavaScript </a:t>
            </a:r>
          </a:p>
          <a:p>
            <a:r>
              <a:rPr lang="en-IN" sz="6400" dirty="0"/>
              <a:t>Tailwind CSS </a:t>
            </a:r>
          </a:p>
          <a:p>
            <a:r>
              <a:rPr lang="en-IN" sz="6400" dirty="0" err="1"/>
              <a:t>face-api.js</a:t>
            </a:r>
            <a:r>
              <a:rPr lang="en-IN" sz="6400" dirty="0"/>
              <a:t> </a:t>
            </a:r>
          </a:p>
          <a:p>
            <a:r>
              <a:rPr lang="en-IN" sz="6400" dirty="0"/>
              <a:t>WebRTC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678EB1-640D-8485-1BEF-09B6D6654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| Dept. of CSE | PWP-I | Batch - 7 | Zeroth review |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163917-7A99-ECD2-6EA6-5D589E8CC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3F001-7C6F-4E01-BC69-D7191FDDFE22}" type="datetime1">
              <a:rPr lang="en-IN" smtClean="0"/>
              <a:t>16-07-2026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8893BE-EFFB-4A42-B0AB-D016499D0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7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B0C71A-AA3F-F207-9FAE-23F13DF1C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947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3645-45FC-B8C0-737E-58E748AA9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" y="365125"/>
            <a:ext cx="11231880" cy="98615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C6317-0F5D-0C88-5539-7A37BD48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360" y="1351280"/>
            <a:ext cx="11140440" cy="4825683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sz="6200" b="1" dirty="0"/>
              <a:t>Results</a:t>
            </a:r>
          </a:p>
          <a:p>
            <a:r>
              <a:rPr lang="en-IN" sz="4000" dirty="0"/>
              <a:t>Unified educational platform </a:t>
            </a:r>
          </a:p>
          <a:p>
            <a:r>
              <a:rPr lang="en-IN" sz="4000" dirty="0"/>
              <a:t>Improved classroom management </a:t>
            </a:r>
          </a:p>
          <a:p>
            <a:r>
              <a:rPr lang="en-IN" sz="4000" dirty="0"/>
              <a:t>Better student engagement </a:t>
            </a:r>
          </a:p>
          <a:p>
            <a:r>
              <a:rPr lang="en-IN" sz="4000" dirty="0"/>
              <a:t>Centralized academic records </a:t>
            </a:r>
          </a:p>
          <a:p>
            <a:pPr marL="0" indent="0">
              <a:buNone/>
            </a:pPr>
            <a:r>
              <a:rPr lang="en-IN" sz="6200" b="1" dirty="0"/>
              <a:t>Benefits</a:t>
            </a:r>
          </a:p>
          <a:p>
            <a:r>
              <a:rPr lang="en-IN" sz="4000" dirty="0"/>
              <a:t>Reduced administrative workload </a:t>
            </a:r>
          </a:p>
          <a:p>
            <a:r>
              <a:rPr lang="en-IN" sz="4000" dirty="0"/>
              <a:t>Better learning analytics </a:t>
            </a:r>
          </a:p>
          <a:p>
            <a:r>
              <a:rPr lang="en-IN" sz="4000" dirty="0"/>
              <a:t>Real-time engagement monitoring </a:t>
            </a:r>
          </a:p>
          <a:p>
            <a:r>
              <a:rPr lang="en-IN" sz="4000" dirty="0"/>
              <a:t>Improved communication among stakeholders </a:t>
            </a:r>
          </a:p>
          <a:p>
            <a:pPr marL="0" indent="0">
              <a:buNone/>
            </a:pPr>
            <a:r>
              <a:rPr lang="en-IN" sz="6200" b="1" dirty="0"/>
              <a:t>Applications</a:t>
            </a:r>
          </a:p>
          <a:p>
            <a:r>
              <a:rPr lang="en-IN" sz="4000" dirty="0"/>
              <a:t>Schools </a:t>
            </a:r>
          </a:p>
          <a:p>
            <a:r>
              <a:rPr lang="en-IN" sz="4000" dirty="0"/>
              <a:t>Colleges </a:t>
            </a:r>
          </a:p>
          <a:p>
            <a:r>
              <a:rPr lang="en-IN" sz="4000" dirty="0"/>
              <a:t>Universities </a:t>
            </a:r>
          </a:p>
          <a:p>
            <a:r>
              <a:rPr lang="en-IN" sz="4000" dirty="0"/>
              <a:t>Online Learning Platforms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678EB1-640D-8485-1BEF-09B6D6654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| Dept. of CSE | PWP-I | Batch - 7 | Zeroth review |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1806CC-491E-25BC-5186-19511478E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3FE89-6A08-49E8-AA9E-187CB465A220}" type="datetime1">
              <a:rPr lang="en-IN" smtClean="0"/>
              <a:t>16-07-2026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D0BBE5-D1E8-02BA-5154-86895AC25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8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157820-3DA2-59CB-6B08-DF0784AA7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812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3645-45FC-B8C0-737E-58E748AA9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40" y="365125"/>
            <a:ext cx="1116076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C6317-0F5D-0C88-5539-7A37BD48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040" y="1463041"/>
            <a:ext cx="11160760" cy="430784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Cost Breakdown:</a:t>
            </a:r>
            <a:br>
              <a:rPr lang="en-US" dirty="0"/>
            </a:br>
            <a:r>
              <a:rPr lang="en-US" sz="2300" dirty="0"/>
              <a:t>• UI/UX Design – ₹5,000</a:t>
            </a:r>
            <a:br>
              <a:rPr lang="en-US" sz="2300" dirty="0"/>
            </a:br>
            <a:r>
              <a:rPr lang="en-US" sz="2300" dirty="0"/>
              <a:t>• Web application development – ₹15,000</a:t>
            </a:r>
            <a:br>
              <a:rPr lang="en-US" sz="2300" dirty="0"/>
            </a:br>
            <a:r>
              <a:rPr lang="en-US" sz="2300" dirty="0"/>
              <a:t>• Database &amp; hosting – ₹3,000</a:t>
            </a:r>
            <a:br>
              <a:rPr lang="en-US" sz="2300" dirty="0"/>
            </a:br>
            <a:r>
              <a:rPr lang="en-US" sz="2300" dirty="0"/>
              <a:t>• Testing &amp; Deployment – ₹2,000</a:t>
            </a:r>
            <a:br>
              <a:rPr lang="en-US" sz="2300" dirty="0"/>
            </a:br>
            <a:r>
              <a:rPr lang="en-US" sz="2300" dirty="0"/>
              <a:t>Total Estimated Cost – ₹25,000</a:t>
            </a:r>
          </a:p>
          <a:p>
            <a:r>
              <a:rPr lang="en-US" b="1" dirty="0"/>
              <a:t>Resources Needed:</a:t>
            </a:r>
            <a:br>
              <a:rPr lang="en-US" dirty="0"/>
            </a:br>
            <a:r>
              <a:rPr lang="en-US" sz="2100" dirty="0"/>
              <a:t>• Laptop/Desktop</a:t>
            </a:r>
            <a:br>
              <a:rPr lang="en-US" sz="2100" dirty="0"/>
            </a:br>
            <a:r>
              <a:rPr lang="en-US" sz="2100" dirty="0"/>
              <a:t>• Internet Connection</a:t>
            </a:r>
            <a:br>
              <a:rPr lang="en-US" sz="2100" dirty="0"/>
            </a:br>
            <a:r>
              <a:rPr lang="en-US" sz="2100" dirty="0"/>
              <a:t>• VS Code / IntelliJ IDEA</a:t>
            </a:r>
            <a:br>
              <a:rPr lang="en-US" sz="2100" dirty="0"/>
            </a:br>
            <a:r>
              <a:rPr lang="en-US" sz="2100" dirty="0"/>
              <a:t>• H2 / MySQL database</a:t>
            </a:r>
            <a:br>
              <a:rPr lang="en-US" sz="2100" dirty="0"/>
            </a:br>
            <a:r>
              <a:rPr lang="en-US" sz="2100" dirty="0"/>
              <a:t>• Webcam for proctoring tests</a:t>
            </a:r>
          </a:p>
          <a:p>
            <a:r>
              <a:rPr lang="en-US" b="1" dirty="0"/>
              <a:t>Funding Sources:</a:t>
            </a:r>
            <a:br>
              <a:rPr lang="en-US" dirty="0"/>
            </a:br>
            <a:r>
              <a:rPr lang="en-US" sz="2400" dirty="0"/>
              <a:t>• College Project Fund</a:t>
            </a:r>
            <a:br>
              <a:rPr lang="en-US" sz="2400" dirty="0"/>
            </a:br>
            <a:r>
              <a:rPr lang="en-US" sz="2400" dirty="0"/>
              <a:t>• Hackathon Grants</a:t>
            </a:r>
            <a:br>
              <a:rPr lang="en-US" sz="2400" dirty="0"/>
            </a:br>
            <a:r>
              <a:rPr lang="en-US" sz="2400" dirty="0"/>
              <a:t>• Institutional Support</a:t>
            </a:r>
            <a:br>
              <a:rPr lang="en-US" sz="2400" dirty="0"/>
            </a:br>
            <a:r>
              <a:rPr lang="en-US" sz="2400" dirty="0"/>
              <a:t>• Self-Funding by Team Members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678EB1-640D-8485-1BEF-09B6D6654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| Dept. of CSE | PWP-I | Batch - 7 | Zeroth review |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9FFC30-9551-C9D5-19DF-61B9E402D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38F52-0C91-47BD-AD06-93C7C54ACFC0}" type="datetime1">
              <a:rPr lang="en-IN" smtClean="0"/>
              <a:t>16-07-2026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526B1A-4F07-EABE-E5B5-E5753F5D0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9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5DB735-A2F8-07D3-7022-04C9CC06C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508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3645-45FC-B8C0-737E-58E748AA9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538" y="310923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Reference(s)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C6317-0F5D-0C88-5539-7A37BD48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680" y="1381760"/>
            <a:ext cx="11120120" cy="479520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References</a:t>
            </a:r>
          </a:p>
          <a:p>
            <a:r>
              <a:rPr lang="en-US" dirty="0"/>
              <a:t>Ramírez Ruiz, J.J., Vargas Sánchez, A.D., &amp; </a:t>
            </a:r>
            <a:r>
              <a:rPr lang="en-US" dirty="0" err="1"/>
              <a:t>Boude</a:t>
            </a:r>
            <a:r>
              <a:rPr lang="en-US" dirty="0"/>
              <a:t> Figueredo, O.R. (2024). </a:t>
            </a:r>
            <a:r>
              <a:rPr lang="en-US" i="1" dirty="0"/>
              <a:t>Impact of Gamification on School Engagement: A Systematic Review</a:t>
            </a:r>
            <a:r>
              <a:rPr lang="en-US" dirty="0"/>
              <a:t>. Frontiers in Education. </a:t>
            </a:r>
          </a:p>
          <a:p>
            <a:r>
              <a:rPr lang="en-US" dirty="0"/>
              <a:t>Kouyate, A., Rashid, N.A., &amp; Mohamed, F.A. (2025). </a:t>
            </a:r>
            <a:r>
              <a:rPr lang="en-US" i="1" dirty="0"/>
              <a:t>Gamification and Reward Systems for Enhancing Student Involvement in Extracurricular Activities at Universities</a:t>
            </a:r>
            <a:r>
              <a:rPr lang="en-US" dirty="0"/>
              <a:t>. INTI Journal. </a:t>
            </a:r>
          </a:p>
          <a:p>
            <a:r>
              <a:rPr lang="en-US" dirty="0" err="1"/>
              <a:t>Pechenkina</a:t>
            </a:r>
            <a:r>
              <a:rPr lang="en-US" dirty="0"/>
              <a:t>, E. (2017). </a:t>
            </a:r>
            <a:r>
              <a:rPr lang="en-US" i="1" dirty="0"/>
              <a:t>Developing a Typology of Mobile Apps in Higher Education: A National Case Study</a:t>
            </a:r>
            <a:r>
              <a:rPr lang="en-US" dirty="0"/>
              <a:t>. Australasian Journal of Educational Technology. </a:t>
            </a:r>
          </a:p>
          <a:p>
            <a:r>
              <a:rPr lang="en-US" dirty="0"/>
              <a:t>Tang, H.T., &amp; Shen, L.S. (2025). </a:t>
            </a:r>
            <a:r>
              <a:rPr lang="en-US" i="1" dirty="0"/>
              <a:t>Peer Collaborative Learning and Academic Engagement in University Libraries</a:t>
            </a:r>
            <a:r>
              <a:rPr lang="en-US" dirty="0"/>
              <a:t>. Frontiers in Psychology. </a:t>
            </a:r>
          </a:p>
          <a:p>
            <a:r>
              <a:rPr lang="en-US" dirty="0"/>
              <a:t>Xu, Z., Choudhury, F.H., Ma, S., Murphrey, T.P., &amp; Dooley, K.E. (2025). </a:t>
            </a:r>
            <a:r>
              <a:rPr lang="en-US" i="1" dirty="0"/>
              <a:t>Leveraging Learning Analytics to Model Student Engagement</a:t>
            </a:r>
            <a:r>
              <a:rPr lang="en-US" dirty="0"/>
              <a:t>. Behavioral Sciences.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678EB1-640D-8485-1BEF-09B6D6654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| Dept. of CSE | PWP-I | Batch - 7 | Zeroth review |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582FA3-03DD-DCC6-E7BB-FF49B09EE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CA03E-DA93-4F08-B7E7-EDCD9FB357FD}" type="datetime1">
              <a:rPr lang="en-IN" smtClean="0"/>
              <a:t>16-07-2026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848DA2-9860-01CB-B161-75BE06CC2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10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16596B-81AA-3CA5-1B5A-12E78BC3E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11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4AF4FCA-E5D4-4D82-BA08-725390924513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96f4bf1d-e467-41f4-b632-a48f5b101b4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468</TotalTime>
  <Words>926</Words>
  <Application>Microsoft Office PowerPoint</Application>
  <PresentationFormat>Widescreen</PresentationFormat>
  <Paragraphs>128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Problem Statement</vt:lpstr>
      <vt:lpstr>Objective</vt:lpstr>
      <vt:lpstr>Sustainable Development Goals - Mapping</vt:lpstr>
      <vt:lpstr>Literature Review</vt:lpstr>
      <vt:lpstr>Existing Technology </vt:lpstr>
      <vt:lpstr>Proposed Work/ Methodology</vt:lpstr>
      <vt:lpstr>Expected Outcomes</vt:lpstr>
      <vt:lpstr>Budget</vt:lpstr>
      <vt:lpstr>Reference(s)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Kaalei Muthoo</dc:creator>
  <cp:lastModifiedBy>Abishek K S</cp:lastModifiedBy>
  <cp:revision>14</cp:revision>
  <dcterms:created xsi:type="dcterms:W3CDTF">2024-07-29T08:43:14Z</dcterms:created>
  <dcterms:modified xsi:type="dcterms:W3CDTF">2026-07-16T06:46:54Z</dcterms:modified>
</cp:coreProperties>
</file>